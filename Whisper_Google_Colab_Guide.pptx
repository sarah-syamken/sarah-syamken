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Raleway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  <p:embeddedFont>
      <p:font typeface="Montserrat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5.xml"/><Relationship Id="rId42" Type="http://schemas.openxmlformats.org/officeDocument/2006/relationships/font" Target="fonts/Montserrat-regular.fntdata"/><Relationship Id="rId41" Type="http://schemas.openxmlformats.org/officeDocument/2006/relationships/font" Target="fonts/Lato-boldItalic.fntdata"/><Relationship Id="rId22" Type="http://schemas.openxmlformats.org/officeDocument/2006/relationships/slide" Target="slides/slide17.xml"/><Relationship Id="rId44" Type="http://schemas.openxmlformats.org/officeDocument/2006/relationships/font" Target="fonts/Montserrat-italic.fntdata"/><Relationship Id="rId21" Type="http://schemas.openxmlformats.org/officeDocument/2006/relationships/slide" Target="slides/slide16.xml"/><Relationship Id="rId43" Type="http://schemas.openxmlformats.org/officeDocument/2006/relationships/font" Target="fonts/Montserrat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aleway-bold.fntdata"/><Relationship Id="rId12" Type="http://schemas.openxmlformats.org/officeDocument/2006/relationships/slide" Target="slides/slide7.xml"/><Relationship Id="rId34" Type="http://schemas.openxmlformats.org/officeDocument/2006/relationships/font" Target="fonts/Raleway-regular.fntdata"/><Relationship Id="rId15" Type="http://schemas.openxmlformats.org/officeDocument/2006/relationships/slide" Target="slides/slide10.xml"/><Relationship Id="rId37" Type="http://schemas.openxmlformats.org/officeDocument/2006/relationships/font" Target="fonts/Raleway-boldItalic.fntdata"/><Relationship Id="rId14" Type="http://schemas.openxmlformats.org/officeDocument/2006/relationships/slide" Target="slides/slide9.xml"/><Relationship Id="rId36" Type="http://schemas.openxmlformats.org/officeDocument/2006/relationships/font" Target="fonts/Raleway-italic.fntdata"/><Relationship Id="rId17" Type="http://schemas.openxmlformats.org/officeDocument/2006/relationships/slide" Target="slides/slide12.xml"/><Relationship Id="rId39" Type="http://schemas.openxmlformats.org/officeDocument/2006/relationships/font" Target="fonts/Lato-bold.fntdata"/><Relationship Id="rId16" Type="http://schemas.openxmlformats.org/officeDocument/2006/relationships/slide" Target="slides/slide11.xml"/><Relationship Id="rId38" Type="http://schemas.openxmlformats.org/officeDocument/2006/relationships/font" Target="fonts/La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2810d3c1d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2810d3c1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2810d3c1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2810d3c1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2810d3c1d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2810d3c1d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2810d3c1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2810d3c1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2810d3c1d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2810d3c1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2810d3c1d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2810d3c1d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2810d3c1d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2810d3c1d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2810d3c1d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2810d3c1d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341e8b7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341e8b7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df8d33da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df8d33da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341e8b7a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341e8b7a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df8d33da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df8d33da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df8d33da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df8d33da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341e8b7a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341e8b7a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does !nvidia-smi do?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 xml:space="preserve">nvidia-smi is a command-line tool from NVIDIA that reports the status of NVIDIA GPUs. When it </a:t>
            </a:r>
            <a:r>
              <a:rPr i="1" lang="en">
                <a:solidFill>
                  <a:schemeClr val="dk1"/>
                </a:solidFill>
              </a:rPr>
              <a:t>does</a:t>
            </a:r>
            <a:r>
              <a:rPr lang="en">
                <a:solidFill>
                  <a:schemeClr val="dk1"/>
                </a:solidFill>
              </a:rPr>
              <a:t xml:space="preserve"> run, it shows things like: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What GPU you have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How much GPU memory is being used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Whether a process (like Whisper) is using the GPU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Why the ! at the beginning?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Google Colab: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Python code runs normally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! tells Colab: “Run this as a shell (terminal) command, not Python.”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So: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!nvidia-smi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 xml:space="preserve">means: </a:t>
            </a:r>
            <a:r>
              <a:rPr i="1" lang="en">
                <a:solidFill>
                  <a:schemeClr val="dk1"/>
                </a:solidFill>
              </a:rPr>
              <a:t>“Ask the underlying Linux machine to run the nvidia-smi program.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Why does it say command not found on CPU… but the notebook still works?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!nvidia-smi is just a diagnostic check, if it doesn't exist, Whisper / Python code simply falls back to CPU execution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341e8b7a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341e8b7a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341e8b7ab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341e8b7a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341e8b7a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341e8b7a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341e8b7a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341e8b7a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341e8b7a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341e8b7a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c341e8b7a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c341e8b7a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341e8b7a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c341e8b7a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c341e8b7a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c341e8b7a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341e8b7a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341e8b7a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341e8b7ab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c341e8b7ab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341e8b7a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341e8b7a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 xml:space="preserve">This is all basically noise…this all looks good! 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c341e8b7a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c341e8b7a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341e8b7ab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c341e8b7a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341e8b7a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c341e8b7a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olab.research.google.com/" TargetMode="External"/><Relationship Id="rId4" Type="http://schemas.openxmlformats.org/officeDocument/2006/relationships/image" Target="../media/image7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y25qzXOLddSp6Yy8_iKch6cpGjTCdf5D/view" TargetMode="External"/><Relationship Id="rId4" Type="http://schemas.openxmlformats.org/officeDocument/2006/relationships/image" Target="../media/image1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625" y="122720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Whisper through Google Colab: A Beginner’s Guide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3172900"/>
            <a:ext cx="7688100" cy="13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760"/>
              <a:t>Automatic Speech Recognition for Linguistic Research</a:t>
            </a:r>
            <a:endParaRPr sz="176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76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760"/>
              <a:t xml:space="preserve">Sarah Syamken </a:t>
            </a:r>
            <a:endParaRPr sz="176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76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760"/>
              <a:t>Georgetown University</a:t>
            </a:r>
            <a:endParaRPr sz="1760"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1795" y="2069045"/>
            <a:ext cx="2499250" cy="28506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548475" y="632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548475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 xml:space="preserve">Go to: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https://colab.research.google.com/</a:t>
            </a:r>
            <a:r>
              <a:rPr lang="en"/>
              <a:t xml:space="preserve"> (it should look like this; you want to click the blue +New Notebook button)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You’ll need a Google account to access Colab — a personal Gmail account works fine.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3597" y="2373850"/>
            <a:ext cx="4058448" cy="22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 txBox="1"/>
          <p:nvPr>
            <p:ph type="title"/>
          </p:nvPr>
        </p:nvSpPr>
        <p:spPr>
          <a:xfrm>
            <a:off x="586575" y="6233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2</a:t>
            </a:r>
            <a:endParaRPr/>
          </a:p>
        </p:txBody>
      </p:sp>
      <p:sp>
        <p:nvSpPr>
          <p:cNvPr id="103" name="Google Shape;103;p15"/>
          <p:cNvSpPr txBox="1"/>
          <p:nvPr>
            <p:ph idx="1" type="body"/>
          </p:nvPr>
        </p:nvSpPr>
        <p:spPr>
          <a:xfrm>
            <a:off x="586575" y="13740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Take advantage of the Pro plan for college students and click the second hyperlink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 xml:space="preserve">This is not necessary, but it is HIGHLY recommended, especially if you have a lot of audios to transcribe. </a:t>
            </a:r>
            <a:endParaRPr/>
          </a:p>
        </p:txBody>
      </p:sp>
      <p:pic>
        <p:nvPicPr>
          <p:cNvPr id="104" name="Google Shape;10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5953" y="2438397"/>
            <a:ext cx="6416823" cy="226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424650" y="6233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3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729450" y="1468975"/>
            <a:ext cx="3519600" cy="28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 xml:space="preserve">Select the “Colab Pro” option.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 xml:space="preserve">We are doing this because the Pro plan allows us to use GPU processors, which are very important for large data sets (lots of audios)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 xml:space="preserve">If you only want to see how Whisper works, or only have a few short audios, you can stay on the CPU and don’t need to go through the rest of the steps.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4525" y="695075"/>
            <a:ext cx="2255225" cy="420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596100" y="6009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4</a:t>
            </a:r>
            <a:endParaRPr/>
          </a:p>
        </p:txBody>
      </p:sp>
      <p:sp>
        <p:nvSpPr>
          <p:cNvPr id="119" name="Google Shape;119;p17"/>
          <p:cNvSpPr txBox="1"/>
          <p:nvPr>
            <p:ph idx="1" type="body"/>
          </p:nvPr>
        </p:nvSpPr>
        <p:spPr>
          <a:xfrm>
            <a:off x="596100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Verify your institution; if you have already used SheerID (a third-party service) before, it should be easy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not, you will have to upload an ID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you have trouble with this, don’t worry! You can still use Whisper without the faster processor — transcripts just take a bit longer.</a:t>
            </a:r>
            <a:endParaRPr/>
          </a:p>
        </p:txBody>
      </p:sp>
      <p:pic>
        <p:nvPicPr>
          <p:cNvPr id="120" name="Google Shape;1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4612" y="2745650"/>
            <a:ext cx="4594775" cy="21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624675" y="5852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5</a:t>
            </a:r>
            <a:endParaRPr/>
          </a:p>
        </p:txBody>
      </p:sp>
      <p:sp>
        <p:nvSpPr>
          <p:cNvPr id="127" name="Google Shape;127;p18"/>
          <p:cNvSpPr txBox="1"/>
          <p:nvPr>
            <p:ph idx="1" type="body"/>
          </p:nvPr>
        </p:nvSpPr>
        <p:spPr>
          <a:xfrm>
            <a:off x="624675" y="14412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 xml:space="preserve">This is what the student-registration site should look like. </a:t>
            </a:r>
            <a:endParaRPr/>
          </a:p>
        </p:txBody>
      </p:sp>
      <p:pic>
        <p:nvPicPr>
          <p:cNvPr id="128" name="Google Shape;12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7575" y="1983325"/>
            <a:ext cx="3408401" cy="3042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600" y="1888075"/>
            <a:ext cx="3131125" cy="30854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>
            <p:ph type="title"/>
          </p:nvPr>
        </p:nvSpPr>
        <p:spPr>
          <a:xfrm>
            <a:off x="615150" y="566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6</a:t>
            </a:r>
            <a:endParaRPr/>
          </a:p>
        </p:txBody>
      </p:sp>
      <p:sp>
        <p:nvSpPr>
          <p:cNvPr id="136" name="Google Shape;136;p19"/>
          <p:cNvSpPr txBox="1"/>
          <p:nvPr>
            <p:ph idx="1" type="body"/>
          </p:nvPr>
        </p:nvSpPr>
        <p:spPr>
          <a:xfrm>
            <a:off x="727650" y="15740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Organize a folder on your laptop with your audio files so you’re ready to hit the ground running with Whisper.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folder is just for convenience; what matters is that the audio files you want to transcribe are easily accessible and saved in WAV format.</a:t>
            </a:r>
            <a:endParaRPr/>
          </a:p>
        </p:txBody>
      </p:sp>
      <p:pic>
        <p:nvPicPr>
          <p:cNvPr id="137" name="Google Shape;13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8075" y="2830270"/>
            <a:ext cx="6407849" cy="203735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>
            <p:ph type="title"/>
          </p:nvPr>
        </p:nvSpPr>
        <p:spPr>
          <a:xfrm>
            <a:off x="727650" y="5661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7</a:t>
            </a:r>
            <a:endParaRPr/>
          </a:p>
        </p:txBody>
      </p:sp>
      <p:sp>
        <p:nvSpPr>
          <p:cNvPr id="144" name="Google Shape;144;p20"/>
          <p:cNvSpPr txBox="1"/>
          <p:nvPr>
            <p:ph idx="1" type="body"/>
          </p:nvPr>
        </p:nvSpPr>
        <p:spPr>
          <a:xfrm>
            <a:off x="681825" y="1393075"/>
            <a:ext cx="7688700" cy="29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26"/>
              <a:t>Please take a moment to double-check what you’ve completed so far. Before getting started, you should have:</a:t>
            </a:r>
            <a:endParaRPr sz="1826"/>
          </a:p>
          <a:p>
            <a:pPr indent="-32650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8963"/>
              <a:buFont typeface="Arial"/>
              <a:buChar char="●"/>
            </a:pPr>
            <a:r>
              <a:rPr lang="en" sz="1826"/>
              <a:t>Accessed Google Colab and feel comfortable with what a notebook is</a:t>
            </a:r>
            <a:br>
              <a:rPr lang="en" sz="1826"/>
            </a:br>
            <a:endParaRPr sz="1826"/>
          </a:p>
          <a:p>
            <a:pPr indent="-32650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8963"/>
              <a:buFont typeface="Arial"/>
              <a:buChar char="●"/>
            </a:pPr>
            <a:r>
              <a:rPr lang="en" sz="1826"/>
              <a:t>Verified your student status through SheerID in order to access Google Colab Pro</a:t>
            </a:r>
            <a:br>
              <a:rPr lang="en" sz="1826"/>
            </a:br>
            <a:endParaRPr sz="1826"/>
          </a:p>
          <a:p>
            <a:pPr indent="-32650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8963"/>
              <a:buFont typeface="Arial"/>
              <a:buChar char="●"/>
            </a:pPr>
            <a:r>
              <a:rPr lang="en" sz="1826"/>
              <a:t>Organized several audio files on your laptop (not in Google Drive), saved in WAV format, so you’re ready to transcribe</a:t>
            </a:r>
            <a:endParaRPr sz="1826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26"/>
              <a:t>If SheerID isn’t working for you, that’s okay! Just be prepared to practice with a short sample audio, or trim one of your own files to about 1–2 minutes.</a:t>
            </a:r>
            <a:endParaRPr sz="1826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697950" y="107925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 xml:space="preserve">Let’s jump into it!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6375" y="1028595"/>
            <a:ext cx="3549776" cy="26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>
            <p:ph type="title"/>
          </p:nvPr>
        </p:nvSpPr>
        <p:spPr>
          <a:xfrm>
            <a:off x="624475" y="598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 xml:space="preserve">Info about </a:t>
            </a:r>
            <a:r>
              <a:rPr lang="en"/>
              <a:t>the</a:t>
            </a:r>
            <a:r>
              <a:rPr lang="en"/>
              <a:t xml:space="preserve"> Privacy Notice…</a:t>
            </a:r>
            <a:endParaRPr/>
          </a:p>
        </p:txBody>
      </p:sp>
      <p:sp>
        <p:nvSpPr>
          <p:cNvPr id="158" name="Google Shape;158;p22"/>
          <p:cNvSpPr txBox="1"/>
          <p:nvPr>
            <p:ph idx="1" type="body"/>
          </p:nvPr>
        </p:nvSpPr>
        <p:spPr>
          <a:xfrm>
            <a:off x="553025" y="1732475"/>
            <a:ext cx="4193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From what I understand, the special data collection is only related to using the new AI features in Colab, which we will not be using.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 xml:space="preserve">Our use is restricted to Google’s </a:t>
            </a:r>
            <a:r>
              <a:rPr lang="en"/>
              <a:t>regular</a:t>
            </a:r>
            <a:r>
              <a:rPr lang="en"/>
              <a:t xml:space="preserve"> privacy policy, which all Google platforms use.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 xml:space="preserve">I am not an expert in all of this, so if you have concerns, please do your own research:) </a:t>
            </a:r>
            <a:endParaRPr/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6113" y="1265250"/>
            <a:ext cx="3459025" cy="360392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624475" y="667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up your Notebook</a:t>
            </a:r>
            <a:endParaRPr/>
          </a:p>
        </p:txBody>
      </p:sp>
      <p:sp>
        <p:nvSpPr>
          <p:cNvPr id="166" name="Google Shape;166;p23"/>
          <p:cNvSpPr txBox="1"/>
          <p:nvPr>
            <p:ph idx="1" type="body"/>
          </p:nvPr>
        </p:nvSpPr>
        <p:spPr>
          <a:xfrm>
            <a:off x="729450" y="1452275"/>
            <a:ext cx="7688700" cy="28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1175" y="1551513"/>
            <a:ext cx="4827077" cy="268932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727650" y="579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your Audio Ready</a:t>
            </a:r>
            <a:endParaRPr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727650" y="149135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If  you are working on a GPU processor,  feel free to use any audio that you would like.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 xml:space="preserve">If working on a CPU processor, any audio that you have that you have shortened to 30 - 90 seconds or you can use this short example to practice (I have </a:t>
            </a:r>
            <a:r>
              <a:rPr lang="en"/>
              <a:t>attached</a:t>
            </a:r>
            <a:r>
              <a:rPr lang="en"/>
              <a:t xml:space="preserve"> it here, but you will need to </a:t>
            </a:r>
            <a:r>
              <a:rPr lang="en"/>
              <a:t xml:space="preserve">download a short sample audio to practice with).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 xml:space="preserve">You will want to have the audio downloaded in a folder. </a:t>
            </a:r>
            <a:endParaRPr/>
          </a:p>
        </p:txBody>
      </p:sp>
      <p:pic>
        <p:nvPicPr>
          <p:cNvPr id="175" name="Google Shape;175;p24" title="Audio File for LingLab.wa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198025" y="2991225"/>
            <a:ext cx="921800" cy="9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5"/>
          <p:cNvSpPr txBox="1"/>
          <p:nvPr>
            <p:ph type="title"/>
          </p:nvPr>
        </p:nvSpPr>
        <p:spPr>
          <a:xfrm>
            <a:off x="582475" y="625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Started with the Processing (under the hood)</a:t>
            </a:r>
            <a:endParaRPr/>
          </a:p>
        </p:txBody>
      </p:sp>
      <p:sp>
        <p:nvSpPr>
          <p:cNvPr id="182" name="Google Shape;182;p25"/>
          <p:cNvSpPr txBox="1"/>
          <p:nvPr>
            <p:ph idx="1" type="body"/>
          </p:nvPr>
        </p:nvSpPr>
        <p:spPr>
          <a:xfrm>
            <a:off x="727650" y="1386075"/>
            <a:ext cx="3844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1600">
                <a:solidFill>
                  <a:schemeClr val="dk2"/>
                </a:solidFill>
              </a:rPr>
            </a:br>
            <a:r>
              <a:rPr b="1" lang="en" sz="1600">
                <a:solidFill>
                  <a:schemeClr val="dk2"/>
                </a:solidFill>
              </a:rPr>
              <a:t>Runtime → Change runtime type → Hardware accelerator: None</a:t>
            </a:r>
            <a:r>
              <a:rPr lang="en" sz="1600">
                <a:solidFill>
                  <a:schemeClr val="dk2"/>
                </a:solidFill>
              </a:rPr>
              <a:t xml:space="preserve"> (CPU).</a:t>
            </a:r>
            <a:br>
              <a:rPr lang="en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 xml:space="preserve">Run: A100 GPU, T4 GPU, or CPU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5475" y="1220838"/>
            <a:ext cx="3962400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5"/>
          <p:cNvSpPr txBox="1"/>
          <p:nvPr/>
        </p:nvSpPr>
        <p:spPr>
          <a:xfrm>
            <a:off x="715650" y="3562150"/>
            <a:ext cx="3516600" cy="1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(this is the calculator behind the operations)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5" name="Google Shape;185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type="title"/>
          </p:nvPr>
        </p:nvSpPr>
        <p:spPr>
          <a:xfrm>
            <a:off x="666475" y="583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GPU/ CPU Processing…</a:t>
            </a:r>
            <a:endParaRPr/>
          </a:p>
        </p:txBody>
      </p:sp>
      <p:sp>
        <p:nvSpPr>
          <p:cNvPr id="191" name="Google Shape;191;p26"/>
          <p:cNvSpPr txBox="1"/>
          <p:nvPr>
            <p:ph idx="1" type="body"/>
          </p:nvPr>
        </p:nvSpPr>
        <p:spPr>
          <a:xfrm>
            <a:off x="727650" y="1232800"/>
            <a:ext cx="7688700" cy="28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Type the following code in the first:</a:t>
            </a:r>
            <a:r>
              <a:rPr b="1" lang="en" sz="2000"/>
              <a:t xml:space="preserve"> </a:t>
            </a:r>
            <a:r>
              <a:rPr b="1" lang="en" sz="2000">
                <a:highlight>
                  <a:srgbClr val="FFFF00"/>
                </a:highlight>
              </a:rPr>
              <a:t>!nvidia-smi</a:t>
            </a:r>
            <a:endParaRPr b="1" sz="2000"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/>
          </a:p>
        </p:txBody>
      </p:sp>
      <p:pic>
        <p:nvPicPr>
          <p:cNvPr id="192" name="Google Shape;19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737" y="1681825"/>
            <a:ext cx="4402175" cy="25125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5225" y="4194350"/>
            <a:ext cx="5591175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375175" y="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Montserrat"/>
                <a:ea typeface="Montserrat"/>
                <a:cs typeface="Montserrat"/>
                <a:sym typeface="Montserrat"/>
              </a:rPr>
              <a:t xml:space="preserve">The Whole Enchilada (in a new cell) </a:t>
            </a:r>
            <a:endParaRPr sz="2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7"/>
          <p:cNvSpPr txBox="1"/>
          <p:nvPr>
            <p:ph idx="1" type="body"/>
          </p:nvPr>
        </p:nvSpPr>
        <p:spPr>
          <a:xfrm>
            <a:off x="729450" y="1441775"/>
            <a:ext cx="7688700" cy="28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8851" y="622900"/>
            <a:ext cx="5261801" cy="4536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100" y="339150"/>
            <a:ext cx="8039100" cy="46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100" y="413125"/>
            <a:ext cx="7613099" cy="420699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2" name="Google Shape;22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725" y="177900"/>
            <a:ext cx="8152549" cy="47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50" y="714387"/>
            <a:ext cx="8590300" cy="3714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100" y="586888"/>
            <a:ext cx="8135599" cy="39697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8" name="Google Shape;238;p32"/>
          <p:cNvSpPr txBox="1"/>
          <p:nvPr/>
        </p:nvSpPr>
        <p:spPr>
          <a:xfrm>
            <a:off x="4495150" y="2167450"/>
            <a:ext cx="33027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 xml:space="preserve">***There is also a large model, which may be 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 xml:space="preserve">better than the medium one depending on your needs.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4" name="Google Shape;24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350" y="78305"/>
            <a:ext cx="7589125" cy="4986883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800" y="163350"/>
            <a:ext cx="7688400" cy="481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4"/>
          <p:cNvSpPr/>
          <p:nvPr/>
        </p:nvSpPr>
        <p:spPr>
          <a:xfrm>
            <a:off x="4661775" y="1536275"/>
            <a:ext cx="476400" cy="424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3" name="Google Shape;25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5688" y="2771388"/>
            <a:ext cx="1800225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1765125"/>
            <a:ext cx="7366335" cy="199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6"/>
          <p:cNvSpPr txBox="1"/>
          <p:nvPr>
            <p:ph type="title"/>
          </p:nvPr>
        </p:nvSpPr>
        <p:spPr>
          <a:xfrm>
            <a:off x="639350" y="5720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 xml:space="preserve">Let’s do this thing! </a:t>
            </a:r>
            <a:endParaRPr/>
          </a:p>
        </p:txBody>
      </p:sp>
      <p:sp>
        <p:nvSpPr>
          <p:cNvPr id="267" name="Google Shape;267;p36"/>
          <p:cNvSpPr txBox="1"/>
          <p:nvPr>
            <p:ph idx="1" type="body"/>
          </p:nvPr>
        </p:nvSpPr>
        <p:spPr>
          <a:xfrm>
            <a:off x="727650" y="1292307"/>
            <a:ext cx="7688700" cy="35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 xml:space="preserve">Copy and paste the entire code in a cell in Google Colab in PLAIN TEXT directly.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 xml:space="preserve">Press the button that looks like an arrow/triangle in the top left corner; it should turn into a square, which shows you that the cell is running. 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Once you see the “Choose Files” button, select the file you want Whisper to transcribe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 xml:space="preserve">You will then see the </a:t>
            </a:r>
            <a:r>
              <a:rPr lang="en" sz="1500"/>
              <a:t>matching</a:t>
            </a:r>
            <a:r>
              <a:rPr lang="en" sz="1500"/>
              <a:t xml:space="preserve"> begin to </a:t>
            </a:r>
            <a:r>
              <a:rPr lang="en" sz="1500"/>
              <a:t>install</a:t>
            </a:r>
            <a:r>
              <a:rPr lang="en" sz="1500"/>
              <a:t xml:space="preserve"> </a:t>
            </a:r>
            <a:r>
              <a:rPr lang="en" sz="1500"/>
              <a:t>dependencies</a:t>
            </a:r>
            <a:r>
              <a:rPr lang="en" sz="1500"/>
              <a:t>, this means things are running!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425" y="4202974"/>
            <a:ext cx="7971150" cy="94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4217" y="1999463"/>
            <a:ext cx="2462133" cy="87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776" y="144925"/>
            <a:ext cx="4995298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343" y="2465525"/>
            <a:ext cx="7048150" cy="77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8"/>
          <p:cNvSpPr txBox="1"/>
          <p:nvPr>
            <p:ph type="title"/>
          </p:nvPr>
        </p:nvSpPr>
        <p:spPr>
          <a:xfrm>
            <a:off x="587850" y="610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the Transcription</a:t>
            </a:r>
            <a:endParaRPr/>
          </a:p>
        </p:txBody>
      </p:sp>
      <p:sp>
        <p:nvSpPr>
          <p:cNvPr id="285" name="Google Shape;285;p38"/>
          <p:cNvSpPr txBox="1"/>
          <p:nvPr>
            <p:ph idx="1" type="body"/>
          </p:nvPr>
        </p:nvSpPr>
        <p:spPr>
          <a:xfrm>
            <a:off x="729450" y="1459025"/>
            <a:ext cx="7688700" cy="28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 xml:space="preserve">Once Whisper has finished </a:t>
            </a:r>
            <a:r>
              <a:rPr lang="en"/>
              <a:t xml:space="preserve">transcribing, you should be able to download and view your file as a plain text document. </a:t>
            </a:r>
            <a:endParaRPr/>
          </a:p>
        </p:txBody>
      </p:sp>
      <p:pic>
        <p:nvPicPr>
          <p:cNvPr id="286" name="Google Shape;28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738" y="2293863"/>
            <a:ext cx="4962525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 txBox="1"/>
          <p:nvPr>
            <p:ph type="title"/>
          </p:nvPr>
        </p:nvSpPr>
        <p:spPr>
          <a:xfrm>
            <a:off x="727650" y="597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FAQs</a:t>
            </a:r>
            <a:endParaRPr/>
          </a:p>
        </p:txBody>
      </p:sp>
      <p:sp>
        <p:nvSpPr>
          <p:cNvPr id="293" name="Google Shape;293;p39"/>
          <p:cNvSpPr txBox="1"/>
          <p:nvPr>
            <p:ph idx="1" type="body"/>
          </p:nvPr>
        </p:nvSpPr>
        <p:spPr>
          <a:xfrm>
            <a:off x="729450" y="1446150"/>
            <a:ext cx="7688700" cy="28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 xml:space="preserve">Can I </a:t>
            </a:r>
            <a:r>
              <a:rPr lang="en" sz="1700"/>
              <a:t>transcribe</a:t>
            </a:r>
            <a:r>
              <a:rPr lang="en" sz="1700"/>
              <a:t xml:space="preserve"> more than one audio at one time?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Yes, but I have found the max is 8-10 for 10 minute audios on a GPU</a:t>
            </a:r>
            <a:endParaRPr sz="1500"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■"/>
            </a:pPr>
            <a:r>
              <a:rPr lang="en" sz="1500"/>
              <a:t>This could still take about 45 minutes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Can I do other stuff on my laptop while Whisper runs in the background?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 xml:space="preserve">Yes! That’s what I </a:t>
            </a:r>
            <a:r>
              <a:rPr lang="en" sz="1500"/>
              <a:t xml:space="preserve">recommend, especially as if you let your laptop screen go dark or shut off your computer, you will lose all of your progress. 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 xml:space="preserve">Can Whisper handle dialogue between two or more people? </a:t>
            </a:r>
            <a:endParaRPr sz="17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 xml:space="preserve">Yes, but it cannot separate the speakers. There may be more adequate tools out there, but I’m unsure.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94" name="Google Shape;294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0"/>
          <p:cNvSpPr txBox="1"/>
          <p:nvPr>
            <p:ph type="title"/>
          </p:nvPr>
        </p:nvSpPr>
        <p:spPr>
          <a:xfrm>
            <a:off x="729450" y="5463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for using this guide!</a:t>
            </a:r>
            <a:endParaRPr/>
          </a:p>
        </p:txBody>
      </p:sp>
      <p:sp>
        <p:nvSpPr>
          <p:cNvPr id="300" name="Google Shape;300;p40"/>
          <p:cNvSpPr txBox="1"/>
          <p:nvPr>
            <p:ph idx="1" type="body"/>
          </p:nvPr>
        </p:nvSpPr>
        <p:spPr>
          <a:xfrm>
            <a:off x="729450" y="1484750"/>
            <a:ext cx="7688700" cy="28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Questions?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500"/>
              <a:t>Feedback welcome!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/>
              <a:t>sarah-syamken.github.io</a:t>
            </a:r>
            <a:endParaRPr sz="2500"/>
          </a:p>
        </p:txBody>
      </p:sp>
      <p:sp>
        <p:nvSpPr>
          <p:cNvPr id="301" name="Google Shape;301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